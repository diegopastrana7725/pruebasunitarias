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B7C16-5D98-4C00-9141-138226C93509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D8EDA-293F-45A6-82DC-5CD18C49C63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2786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D8EDA-293F-45A6-82DC-5CD18C49C63B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5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2A458-CA36-5781-ED1D-EA58AB54F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A0CFE2-B1DC-B693-0E48-B967D4D69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609AA0-8199-3BBB-3FFB-D6F254679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6D3B8E-C80F-C7CB-A48F-78FA4F23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BD5011-AA6F-AD7F-8B2D-5664CB8C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743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E26A8-F78C-2049-E267-09ABB031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15B67C-9E43-EC2A-D223-7D9E467C4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7B2B63-8087-5F03-0740-5558CBB9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5B4279-E8FA-22C1-DA6E-5B251BAF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042C50-250C-824D-5F00-C0B3A4D6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123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FEB3D-3A5B-B943-BA80-50E3D940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E8A7F2-1C51-4730-343C-D38AAA44B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EE0E7-7CA7-5921-9525-DD79B71D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73B0CA-3774-CA68-DEA0-C5C1E298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3F8AFB-621D-DA59-9F77-E612A2CC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1857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892CB-6064-21FA-5526-36C1880C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E1F48E-D79E-A859-EF3F-25CE7C5E7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771A5B-8B9C-0727-F104-81B64B8F2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1C1693-5B4C-6559-55AC-241E3C98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DD3F37-7AAF-13F6-D69C-FB60E7AD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5B6E69-456C-CCD3-2213-B29E9C10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852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B711E-3FDB-2B6A-FB45-E573DA6E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213E4A-0860-6642-E92D-5E9D8285F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675D71-0E43-EC87-BF22-110072EAF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4385D68-5B39-543D-0648-94EC2A028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488D05F-C26E-6EBF-43F7-2A336F21C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677FEA-146A-AB4A-AB0F-683666C5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AC774A-585D-32F9-E810-26023602D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CBA7E9-D360-DEC3-309A-0EF6E03C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425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DBD90-9509-71CC-4C8B-A12E7FDC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CA0FF3-7B7F-1F1B-62EB-07C8254C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BDD3F6-702A-9C5F-398E-0C3D513C8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0FC00F-CE28-5FCE-4D15-072D1C7D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657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D7B8C-D72F-FD96-FD17-68D131CC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551F7F2-4AFA-DB1D-0451-AB1DCE14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12B62D-6BBC-5540-F5BA-BDDECD3E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094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A4D7C-793B-48A8-1109-6C50265A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5A7573-B600-9D27-9935-8DA1697D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E4DD09-8F91-7D94-5976-B9E164DA8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29CD2-BB2C-DC75-6B4A-132E2156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EE6865-E625-4B1C-C962-90D8B8A7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BE8B5A-A5B4-D68C-A6E9-6707AE95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305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2526B-6700-50C3-6172-4E751B87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115476-191C-AEE1-66D5-21692E197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E97CAA-033C-E15A-A32D-950B5CEE2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BC1F8F-4002-393C-CADB-7E33B615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8DE8E4-7833-4821-25D3-CFF4C415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FAE7A9-3DCE-3540-D6D7-AFEAFFA0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019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ACB24-3ADE-706C-A643-F7010ECB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5733DD-FA9B-8952-38E7-528796283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E8DA14-6345-E658-3407-FDB76625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4FCB4C-5FAA-F3DA-3800-353074D8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B9ADF-B751-0FDF-19A9-DDA43493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782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F9D03D-A510-B6B1-58FD-B13BF97B9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8D3BCD-1E35-C9F8-EBC6-A4BC6582E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51CABD-6ECF-050F-29D1-D897C283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449B5D-C5FF-2AB4-DE57-0464E45F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6FE8D8-CA35-BE97-34F3-30B83DE5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523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2E8D66-93B3-7BCD-4B59-AB6C7F79E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63DCC7-8D3D-3028-5B35-B3804592E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D8FDF0-233D-F207-4773-855CDB4EE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CD50F-44F2-4575-9BE3-2C48A4AC8352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9C927E-1FAB-FB82-34F8-AAC466849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C701ED-8D7D-1B09-69CB-90DE6CDE7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24C4A-1E44-4890-8D6E-30F1A18278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223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EF3AE-809F-34E1-D984-4D443510A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CO" sz="5400">
                <a:solidFill>
                  <a:schemeClr val="bg1"/>
                </a:solidFill>
              </a:rPr>
              <a:t>Taller de pruebas unitarias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E0C88C-4961-996A-286C-DB9DC6F2A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s-CO" sz="2000">
                <a:solidFill>
                  <a:schemeClr val="bg1"/>
                </a:solidFill>
              </a:rPr>
              <a:t>EVC Depósitos y cuentas especiales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159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11301A-B5C7-7D59-BB55-32229FB4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33" y="608902"/>
            <a:ext cx="4505552" cy="16557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 err="1">
                <a:solidFill>
                  <a:schemeClr val="bg1"/>
                </a:solidFill>
              </a:rPr>
              <a:t>Introducción</a:t>
            </a:r>
            <a:r>
              <a:rPr lang="en-US" sz="5000" dirty="0">
                <a:solidFill>
                  <a:schemeClr val="bg1"/>
                </a:solidFill>
              </a:rPr>
              <a:t> al Testing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277405F-0B4F-4418-B773-1B3881412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0421" y="226893"/>
            <a:ext cx="5968658" cy="6085007"/>
          </a:xfrm>
          <a:custGeom>
            <a:avLst/>
            <a:gdLst>
              <a:gd name="connsiteX0" fmla="*/ 0 w 5968658"/>
              <a:gd name="connsiteY0" fmla="*/ 0 h 6085007"/>
              <a:gd name="connsiteX1" fmla="*/ 3557919 w 5968658"/>
              <a:gd name="connsiteY1" fmla="*/ 0 h 6085007"/>
              <a:gd name="connsiteX2" fmla="*/ 3557919 w 5968658"/>
              <a:gd name="connsiteY2" fmla="*/ 2195749 h 6085007"/>
              <a:gd name="connsiteX3" fmla="*/ 5968658 w 5968658"/>
              <a:gd name="connsiteY3" fmla="*/ 2195749 h 6085007"/>
              <a:gd name="connsiteX4" fmla="*/ 5968658 w 5968658"/>
              <a:gd name="connsiteY4" fmla="*/ 6085007 h 6085007"/>
              <a:gd name="connsiteX5" fmla="*/ 2058230 w 5968658"/>
              <a:gd name="connsiteY5" fmla="*/ 6085007 h 6085007"/>
              <a:gd name="connsiteX6" fmla="*/ 2058230 w 5968658"/>
              <a:gd name="connsiteY6" fmla="*/ 3538657 h 6085007"/>
              <a:gd name="connsiteX7" fmla="*/ 0 w 5968658"/>
              <a:gd name="connsiteY7" fmla="*/ 3538657 h 6085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8658" h="6085007">
                <a:moveTo>
                  <a:pt x="0" y="0"/>
                </a:moveTo>
                <a:lnTo>
                  <a:pt x="3557919" y="0"/>
                </a:lnTo>
                <a:lnTo>
                  <a:pt x="3557919" y="2195749"/>
                </a:lnTo>
                <a:lnTo>
                  <a:pt x="5968658" y="2195749"/>
                </a:lnTo>
                <a:lnTo>
                  <a:pt x="5968658" y="6085007"/>
                </a:lnTo>
                <a:lnTo>
                  <a:pt x="2058230" y="6085007"/>
                </a:lnTo>
                <a:lnTo>
                  <a:pt x="2058230" y="3538657"/>
                </a:lnTo>
                <a:lnTo>
                  <a:pt x="0" y="3538657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3B7095-0B5B-EAD2-68FC-BC9DAC3D5B11}"/>
              </a:ext>
            </a:extLst>
          </p:cNvPr>
          <p:cNvSpPr txBox="1"/>
          <p:nvPr/>
        </p:nvSpPr>
        <p:spPr>
          <a:xfrm>
            <a:off x="408770" y="2582350"/>
            <a:ext cx="47751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solidFill>
                  <a:schemeClr val="bg1"/>
                </a:solidFill>
              </a:rPr>
              <a:t>proceso de evaluar una aplicación, sistema o componente de software para verificar que funciona correctamente, cumple los requisitos especificados y detecta errores o defectos antes de que llegue a los usuarios finales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35BA1EA-0920-6FF1-1A5B-3EF1615942C8}"/>
              </a:ext>
            </a:extLst>
          </p:cNvPr>
          <p:cNvSpPr txBox="1"/>
          <p:nvPr/>
        </p:nvSpPr>
        <p:spPr>
          <a:xfrm>
            <a:off x="8218200" y="3875012"/>
            <a:ext cx="3627339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solidFill>
                  <a:schemeClr val="bg1"/>
                </a:solidFill>
              </a:rPr>
              <a:t>Verificación: ¿Estamos construyendo el producto correctamente?</a:t>
            </a:r>
          </a:p>
          <a:p>
            <a:pPr>
              <a:spcAft>
                <a:spcPts val="600"/>
              </a:spcAft>
            </a:pPr>
            <a:r>
              <a:rPr lang="es-ES" dirty="0">
                <a:solidFill>
                  <a:schemeClr val="bg1"/>
                </a:solidFill>
              </a:rPr>
              <a:t>Validación: ¿Estamos construyendo el producto correcto?</a:t>
            </a:r>
            <a:endParaRPr lang="es-CO" dirty="0">
              <a:solidFill>
                <a:schemeClr val="bg1"/>
              </a:solidFill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23BCCB1-533E-3EE8-C3E5-5CE3E2BCB5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25F1E30-0F0C-631F-B58B-080891D07469}"/>
              </a:ext>
            </a:extLst>
          </p:cNvPr>
          <p:cNvSpPr txBox="1"/>
          <p:nvPr/>
        </p:nvSpPr>
        <p:spPr>
          <a:xfrm>
            <a:off x="5703146" y="277931"/>
            <a:ext cx="3202099" cy="3204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</a:rPr>
              <a:t>Las </a:t>
            </a:r>
            <a:r>
              <a:rPr lang="en-US" sz="1600" dirty="0" err="1">
                <a:solidFill>
                  <a:schemeClr val="bg1"/>
                </a:solidFill>
              </a:rPr>
              <a:t>pruebas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buscan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</a:rPr>
              <a:t>- </a:t>
            </a:r>
            <a:r>
              <a:rPr lang="en-US" sz="1600" dirty="0" err="1">
                <a:solidFill>
                  <a:schemeClr val="bg1"/>
                </a:solidFill>
              </a:rPr>
              <a:t>Identificar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defectos</a:t>
            </a:r>
            <a:r>
              <a:rPr lang="en-US" sz="1600" dirty="0">
                <a:solidFill>
                  <a:schemeClr val="bg1"/>
                </a:solidFill>
              </a:rPr>
              <a:t> o </a:t>
            </a:r>
            <a:r>
              <a:rPr lang="en-US" sz="1600" dirty="0" err="1">
                <a:solidFill>
                  <a:schemeClr val="bg1"/>
                </a:solidFill>
              </a:rPr>
              <a:t>errores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</a:rPr>
              <a:t>- </a:t>
            </a:r>
            <a:r>
              <a:rPr lang="en-US" sz="1600" dirty="0" err="1">
                <a:solidFill>
                  <a:schemeClr val="bg1"/>
                </a:solidFill>
              </a:rPr>
              <a:t>Verificar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requisitos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funcionales</a:t>
            </a:r>
            <a:r>
              <a:rPr lang="en-US" sz="1600" dirty="0">
                <a:solidFill>
                  <a:schemeClr val="bg1"/>
                </a:solidFill>
              </a:rPr>
              <a:t> y no </a:t>
            </a:r>
            <a:r>
              <a:rPr lang="en-US" sz="1600" dirty="0" err="1">
                <a:solidFill>
                  <a:schemeClr val="bg1"/>
                </a:solidFill>
              </a:rPr>
              <a:t>funcionales</a:t>
            </a:r>
            <a:r>
              <a:rPr lang="en-US" sz="1600" dirty="0">
                <a:solidFill>
                  <a:schemeClr val="bg1"/>
                </a:solidFill>
              </a:rPr>
              <a:t> se </a:t>
            </a:r>
            <a:r>
              <a:rPr lang="en-US" sz="1600" dirty="0" err="1">
                <a:solidFill>
                  <a:schemeClr val="bg1"/>
                </a:solidFill>
              </a:rPr>
              <a:t>cumplen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</a:rPr>
              <a:t>- </a:t>
            </a:r>
            <a:r>
              <a:rPr lang="en-US" sz="1600" dirty="0" err="1">
                <a:solidFill>
                  <a:schemeClr val="bg1"/>
                </a:solidFill>
              </a:rPr>
              <a:t>Garantizar</a:t>
            </a:r>
            <a:r>
              <a:rPr lang="en-US" sz="1600" dirty="0">
                <a:solidFill>
                  <a:schemeClr val="bg1"/>
                </a:solidFill>
              </a:rPr>
              <a:t> la </a:t>
            </a:r>
            <a:r>
              <a:rPr lang="en-US" sz="1600" dirty="0" err="1">
                <a:solidFill>
                  <a:schemeClr val="bg1"/>
                </a:solidFill>
              </a:rPr>
              <a:t>calidad</a:t>
            </a:r>
            <a:r>
              <a:rPr lang="en-US" sz="1600" dirty="0">
                <a:solidFill>
                  <a:schemeClr val="bg1"/>
                </a:solidFill>
              </a:rPr>
              <a:t> del software.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</a:rPr>
              <a:t>- </a:t>
            </a:r>
            <a:r>
              <a:rPr lang="en-US" sz="1600" dirty="0" err="1">
                <a:solidFill>
                  <a:schemeClr val="bg1"/>
                </a:solidFill>
              </a:rPr>
              <a:t>Reducir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riesgos</a:t>
            </a:r>
            <a:r>
              <a:rPr lang="en-US" sz="1600" dirty="0">
                <a:solidFill>
                  <a:schemeClr val="bg1"/>
                </a:solidFill>
              </a:rPr>
              <a:t> antes de la </a:t>
            </a:r>
            <a:r>
              <a:rPr lang="en-US" sz="1600" dirty="0" err="1">
                <a:solidFill>
                  <a:schemeClr val="bg1"/>
                </a:solidFill>
              </a:rPr>
              <a:t>puesta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producción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</a:rPr>
              <a:t>- </a:t>
            </a:r>
            <a:r>
              <a:rPr lang="en-US" sz="1600" dirty="0" err="1">
                <a:solidFill>
                  <a:schemeClr val="bg1"/>
                </a:solidFill>
              </a:rPr>
              <a:t>Mejorar</a:t>
            </a:r>
            <a:r>
              <a:rPr lang="en-US" sz="1600" dirty="0">
                <a:solidFill>
                  <a:schemeClr val="bg1"/>
                </a:solidFill>
              </a:rPr>
              <a:t> la </a:t>
            </a:r>
            <a:r>
              <a:rPr lang="en-US" sz="1600" dirty="0" err="1">
                <a:solidFill>
                  <a:schemeClr val="bg1"/>
                </a:solidFill>
              </a:rPr>
              <a:t>confiabilidad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seguridad</a:t>
            </a:r>
            <a:r>
              <a:rPr lang="en-US" sz="1600" dirty="0">
                <a:solidFill>
                  <a:schemeClr val="bg1"/>
                </a:solidFill>
              </a:rPr>
              <a:t> y </a:t>
            </a:r>
            <a:r>
              <a:rPr lang="en-US" sz="1600" dirty="0" err="1">
                <a:solidFill>
                  <a:schemeClr val="bg1"/>
                </a:solidFill>
              </a:rPr>
              <a:t>rendimiento</a:t>
            </a:r>
            <a:r>
              <a:rPr lang="en-US" sz="1600" dirty="0">
                <a:solidFill>
                  <a:schemeClr val="bg1"/>
                </a:solidFill>
              </a:rPr>
              <a:t> del </a:t>
            </a:r>
            <a:r>
              <a:rPr lang="en-US" sz="1600" dirty="0" err="1">
                <a:solidFill>
                  <a:schemeClr val="bg1"/>
                </a:solidFill>
              </a:rPr>
              <a:t>sistema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7670940-E268-B186-C843-94A42D006B3B}"/>
              </a:ext>
            </a:extLst>
          </p:cNvPr>
          <p:cNvSpPr txBox="1"/>
          <p:nvPr/>
        </p:nvSpPr>
        <p:spPr>
          <a:xfrm>
            <a:off x="851133" y="4995900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>
                <a:solidFill>
                  <a:schemeClr val="bg1"/>
                </a:solidFill>
              </a:rPr>
              <a:t>Las pruebas no demuestran que un sistema no tiene errores. Las pruebas reducen el riesgo de que existan errores.</a:t>
            </a:r>
            <a:endParaRPr lang="es-CO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8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B8F7B3-F7CC-0745-D78E-FF9B7EDD6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s-CO">
                <a:solidFill>
                  <a:schemeClr val="bg1"/>
                </a:solidFill>
              </a:rPr>
              <a:t>¿Qué es la calidad en el software?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1638DA-D550-9BE2-31E0-029935CB0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407" y="2750108"/>
            <a:ext cx="5217173" cy="1392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La calidad del software mide qué tan bueno es un sistema para cumplir su propósito.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08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897B270-FC04-ED75-5FE5-D12B3660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Características de la calidad del software</a:t>
            </a:r>
            <a:endParaRPr lang="es-CO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89088E-067D-3BE2-0194-896DA7253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1. Funcionalidad: El software realiza las funciones que fueron solicitadas. </a:t>
            </a:r>
          </a:p>
          <a:p>
            <a:r>
              <a:rPr lang="es-ES" sz="1800">
                <a:solidFill>
                  <a:schemeClr val="bg1"/>
                </a:solidFill>
              </a:rPr>
              <a:t>2. Fiabilidad: Funciona de manera estable sin fallar frecuentemente. </a:t>
            </a:r>
          </a:p>
          <a:p>
            <a:r>
              <a:rPr lang="es-ES" sz="1800">
                <a:solidFill>
                  <a:schemeClr val="bg1"/>
                </a:solidFill>
              </a:rPr>
              <a:t>3. Usabilidad: Es fácil de aprender y utilizar.</a:t>
            </a:r>
          </a:p>
          <a:p>
            <a:r>
              <a:rPr lang="es-ES" sz="1800">
                <a:solidFill>
                  <a:schemeClr val="bg1"/>
                </a:solidFill>
              </a:rPr>
              <a:t>4. Eficiencia: Utiliza adecuadamente los recursos y responde rápidamente.</a:t>
            </a:r>
          </a:p>
          <a:p>
            <a:r>
              <a:rPr lang="es-ES" sz="1800">
                <a:solidFill>
                  <a:schemeClr val="bg1"/>
                </a:solidFill>
              </a:rPr>
              <a:t>5. Mantenibilidad: Es fácil corregir errores y realizar mejoras.</a:t>
            </a:r>
          </a:p>
          <a:p>
            <a:r>
              <a:rPr lang="es-ES" sz="1800">
                <a:solidFill>
                  <a:schemeClr val="bg1"/>
                </a:solidFill>
              </a:rPr>
              <a:t>6. Seguridad: Protege los datos y evita accesos no autorizados.</a:t>
            </a:r>
          </a:p>
          <a:p>
            <a:r>
              <a:rPr lang="es-ES" sz="1800">
                <a:solidFill>
                  <a:schemeClr val="bg1"/>
                </a:solidFill>
              </a:rPr>
              <a:t>7. Portabilidad: Puede ejecutarse en diferentes entornos o plataformas.</a:t>
            </a:r>
            <a:endParaRPr lang="es-CO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06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57EACD-61CA-4775-9551-2078FC0BC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31107" y="5203828"/>
            <a:ext cx="1861478" cy="1557272"/>
            <a:chOff x="9731107" y="5203828"/>
            <a:chExt cx="1861478" cy="1557272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EA9CEFA-65DF-4773-AB16-4E0811348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203828"/>
              <a:ext cx="36465" cy="36221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5B46568-197D-4462-A2AB-B32016E07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310550-C5D3-4B44-A74F-CA522D3EA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4320944-CB85-404B-ACEB-4C621A2DE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F09ADAE-8ED7-4349-9F53-C9846B34A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4A30888-D632-4303-AD63-F9F6425F6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494E026-3245-4E27-8FA4-B5E50398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980A2D-E8F8-4D53-96BD-549B6E43C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203828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9B2DDE9-70F9-46DE-A98D-A9E6A15B0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D6359C0-FED2-4F38-AF2C-D2CCB137C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31DFD6-7643-4367-B357-419597215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D5AD929-BDD1-4C17-B069-7F26DA239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89B223-AC6D-428A-ADA0-A8107F132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203828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55AE910-CDA0-467B-91F1-30022FC70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356051"/>
              <a:ext cx="36465" cy="36221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80BBB4-49D0-40C7-949B-CE40E918B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356046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A691FB-DA8E-4CB6-B2CB-43996A8A6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6ABC7EF-0297-4356-A5FE-85B70C226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2A4C124-2BE2-47A7-88BD-0D0E70225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77B5782-F97B-49E6-B4CF-05080D43F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356051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45F28A-82A7-4E2A-AC1D-A9080F5F5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3560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04D3904-C2B3-4481-9AD0-4F4B97BF7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356044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7E99BD2-8425-452F-BBC9-DA271A4D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6826B2E-CE5F-4751-AB16-2F5D38E0D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3D69C59-2023-4CEC-BA7C-5EE1834EC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356044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B90D7BC-1D4E-4E24-B1E4-700CFE90C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35604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425F03-8DA8-4B30-8D52-0F823F557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356046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5042418-2AFD-437C-BDFE-95057749D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508030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F7247EC-FBD7-42B0-89E1-981401897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508030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642B17A-8F41-4932-B0D0-CAA198A36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BC09251-BDF7-47DB-8213-2FD24431C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F3F5D47-FD51-41B4-B385-72FB1B83F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FEDA36F-4DFB-4CF9-AFCB-DF2830797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5508030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4B82A4E-24F2-4AF9-ACD9-032004D5C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5080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48A1B0D-4A06-45BC-B4BC-CFC5300FB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508025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5FAD49E-FD72-4576-A940-2428587BC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0C5050F-FCF4-41AE-A014-DA0E79C9D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05C37E2-39BD-41F3-A48B-0D6656AFD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ADE8E63-21C2-4361-9759-81558A67F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50802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BB2F91E-6261-407E-AB8B-BC2971C5E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508025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1B8D98F-3287-4463-9C66-4D5562880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660254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4B4DF75-5954-4360-BD08-C0F14F07B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660248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9646D91-7334-4EF7-854E-31229C0EB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B52D0D3-BAB6-4E87-A7E3-042FE194E0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C99FAD0-CAF0-416B-A5C2-BF67795C5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E22E26C-C150-4D82-9949-7CBE6C6E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660254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072F62D-B9FA-4CBD-8427-DCDAE9724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6602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A5E7E19-8DF1-4E35-B975-14DB353C5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660246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29CC129-69D0-48B1-969C-406A8EC16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863A762-C2BE-4B7F-8F77-FB38598FD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75ED5B7-A269-4716-8A91-60C4640BC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53D700F-89B5-47C3-88CF-F491CCA23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660246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60B6165-C5E0-4495-B9AC-5D3FAA17C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66025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2C06BE7-B255-49E8-AFD7-16EA0DEED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812233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62BAA60-4FD3-4ED5-85B8-FA1AEBB54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D285C5F-B15D-4C99-876E-11EA0EDDB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1D3315B-6CF6-4B8A-9AD6-15E8ED774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2316A1B-DF30-4B08-A25E-634088C3A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3B9824C-F3A0-4BB5-BA2D-E7B2C873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74AA607-331A-4D12-9628-01D4184C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C5FC238-AD32-4501-B2D5-55A3F1409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81223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2651C95-EE88-4D97-A4BD-842E093F0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D800BB2-C68A-40A6-8CD4-A733BD0DB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697780E-7DCF-4651-9953-FE1A7062C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B417FEE-0006-405F-A3EF-741EC0C6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8122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D2CA75D-333A-4FC0-A35C-150218932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81223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1FE7FEB-856E-4B91-9524-7CB608A04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5964459"/>
              <a:ext cx="36465" cy="36221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815A820-71A2-4F06-909A-802956FC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5964453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135222E-6463-4F37-A52D-8E5F48B17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4C684AC-F7CB-4096-BD97-E024A2203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AEB483C-20AB-4095-912D-AB52A7C32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D1625C5-4D6F-4AF0-8F52-3E430AD86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5964459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E6AC22C-25A4-400A-8E40-0DA9119C5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5964453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4586291-7B87-4844-A3C7-1B10E7070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5964451"/>
              <a:ext cx="36221" cy="36226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E6C849B-AC63-4611-9425-967763280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3DD2AB7-F94D-4A1E-8D17-3A8418C7D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99CE3DE-A5D3-4CBC-9771-BA0D4A71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5964451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51F4BCD-DCFB-49C5-AA53-912A2644D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5964448"/>
              <a:ext cx="36218" cy="36226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17BD47A-2F24-467E-A016-650656A35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5964453"/>
              <a:ext cx="36218" cy="36221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60F5B69-D34A-4A38-AC4F-E04BB730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116440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6D5DFC6-ED6D-4E93-BBFD-32876861C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116440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46009FB-3E9E-46F5-9DC9-B225C7B7D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10C4A9D-1BAD-4C1A-B643-39CEA7C56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3786231-B3C8-45C0-AB76-F0F35D7E1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E05DBD8-3FC9-47DE-88E7-849A2BE28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6116440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8B45623-D400-48AE-99CB-C50EF8208C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50817F4-286D-4A64-A707-319964118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47" y="6116435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E2CBB23-BC03-4233-B66D-F3E1BC361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29" y="611643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5B057C8-A242-41ED-B0DB-78B245C07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52" y="611643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CB4C1C0-5F41-4E24-A7CD-AFB1DE7B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31" y="611643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153209C-5637-4CEC-AB94-73A0EA2C7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57" y="611643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7A55A31-FEC9-482A-B837-965828913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36" y="6116440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3BA94A3-F00C-4D17-9254-A955E4414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268419"/>
              <a:ext cx="36465" cy="36219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9A2902DE-23EF-49CE-A669-B9096A9D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268419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5780746-7CB1-459B-ACF8-EE4C8FA2DA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EC72100-CCC7-485B-AB73-AFE6263C2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0330226-7157-4C26-8B12-849E7E40B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6FC5CE2-A4E9-48A9-A687-9D3CBDF2C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6268419"/>
              <a:ext cx="36221" cy="36221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71F8A61-039C-4875-ABD2-DDAD0AF61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E9C48D7-E617-453A-95A7-4CBADCB70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268419"/>
              <a:ext cx="36221" cy="36219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028847A-3236-456C-ABCA-F17FACC74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68F10DA-E024-4DFF-B71A-284CE3783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D1258F2-08D2-4674-BB2B-00DA3F054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CA4E673-ADD3-4C6A-B67D-077CD7F76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268419"/>
              <a:ext cx="36218" cy="36219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8412C5A-7E5C-437B-A36E-FD4ADC57E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57" y="6268417"/>
              <a:ext cx="36218" cy="36221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56AC8FA-ED34-4749-9A15-E878B4088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420645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EE8845F-6312-4CB4-8345-10FAA6E91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420645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6649974-BABE-465B-934C-798CD398A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A2E8120-B8AC-4058-AB81-44A99CF53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B3ACBEF-904A-4B73-A8B1-3A62AC125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80CD75B-0C3D-4186-B1D8-E58A7580E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5" y="6420645"/>
              <a:ext cx="36221" cy="36221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17D40FB-488F-4EFD-9019-8E5802A73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420645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89A9FA-C815-459B-8D43-862AC2805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420653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A360E5B-3ABC-46DD-9DFE-5D8D1D4D2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42066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BCC9121-E8F5-49AE-869E-1245398D1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42066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190A7C8-B00C-4DCB-929A-32881103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42066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BC02C4-69CC-4293-9249-E28D9F2C5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42067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4748328-B03B-4EDD-96F0-DAF652720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57" y="6420679"/>
              <a:ext cx="36218" cy="36221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17E29EF6-5C38-4836-AE46-64215DD78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12" y="6572627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33BC27D-A755-4489-B73A-5B0EA4BD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5" y="6572627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018ADBF-7412-4D0F-BC0F-8710DB9A4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4" y="6572627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370D54CD-D372-4C7F-B2AC-AB600FE52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572627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BB9398E-F21C-4918-8C5A-90735B80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9" y="6572627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A7E3180-5F52-4B48-B3BD-F02177C4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2" y="6572627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657DEC7-1A91-41CA-B3FD-593EFF942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572627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F66DBED-0EF0-4BC7-A733-8CEB9301F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572658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27BC7E2-BB50-457E-8D53-CBADC3D0A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57265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E5B2F2A-FBC8-42A5-9305-B5C98A24D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57265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67BC862E-B59F-4BFB-A777-05409E727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57265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3FB1571-92E7-4829-BCCD-7DCB0FE981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572653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4F917C1-A8BC-4A0E-AE36-F9D0BE981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57" y="657265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6F8931C-3AC8-4029-B30C-5361BFBCAE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1107" y="6724848"/>
              <a:ext cx="36465" cy="36219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76E87F7-1BC0-472D-B19E-FFB4942471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83333" y="6724848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65149F4-5FFD-4DA3-B387-25DDFF149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35312" y="672484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CC143A2-5B71-45E0-A5DC-1AE44CF2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7538" y="672484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29C66E6-99F1-4166-B11B-8C47DD310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9517" y="672484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D782C24-70D1-4DF0-A631-9FA264292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91740" y="6724848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04EA4D6-FB90-4EE9-9C94-FACE6D79A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43724" y="6724848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71E17C7-CF11-4295-85DA-5237670B3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5968" y="6724881"/>
              <a:ext cx="36221" cy="36219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3AF0AFB-AF22-44B2-B981-AF6098F19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7950" y="672488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C7A3631-6B95-4E40-89A4-0DC231A1A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00173" y="672488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320EDD3-FA1E-4F06-B5E6-86BA66BFF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52154" y="672488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5CB6263-11E9-4CF8-B171-7C627720C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4380" y="6724881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19FB7707-C4F1-4107-A1AA-C702870A5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56367" y="6724876"/>
              <a:ext cx="36218" cy="36219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8CF9B62-68C1-D808-C0F0-4CC0C805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6992" y="1202026"/>
            <a:ext cx="4030132" cy="4406508"/>
          </a:xfrm>
        </p:spPr>
        <p:txBody>
          <a:bodyPr>
            <a:normAutofit/>
          </a:bodyPr>
          <a:lstStyle/>
          <a:p>
            <a:pPr algn="ctr"/>
            <a:r>
              <a:rPr lang="es-CO">
                <a:solidFill>
                  <a:schemeClr val="bg1"/>
                </a:solidFill>
              </a:rPr>
              <a:t>¿Por qué debemos realizar pruebas?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43B528-A1A3-8745-D7E0-B0DA3AE32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28" y="1257565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>
                <a:solidFill>
                  <a:schemeClr val="bg1"/>
                </a:solidFill>
              </a:rPr>
              <a:t>Las pruebas son importantes porque nos ayudan a asegurarnos de que el software funciona como esperamos antes de que los usuarios lo utilicen.</a:t>
            </a:r>
          </a:p>
          <a:p>
            <a:pPr marL="0" indent="0">
              <a:buNone/>
            </a:pPr>
            <a:r>
              <a:rPr lang="es-ES" sz="1800">
                <a:solidFill>
                  <a:schemeClr val="bg1"/>
                </a:solidFill>
              </a:rPr>
              <a:t>Gracias a las pruebas podemos:</a:t>
            </a:r>
          </a:p>
          <a:p>
            <a:pPr>
              <a:buFontTx/>
              <a:buChar char="-"/>
            </a:pPr>
            <a:r>
              <a:rPr lang="es-ES" sz="1800">
                <a:solidFill>
                  <a:schemeClr val="bg1"/>
                </a:solidFill>
              </a:rPr>
              <a:t>Detectar errores antes de que se conviertan en problemas mayores.</a:t>
            </a:r>
          </a:p>
          <a:p>
            <a:pPr>
              <a:buFontTx/>
              <a:buChar char="-"/>
            </a:pPr>
            <a:r>
              <a:rPr lang="es-ES" sz="1800">
                <a:solidFill>
                  <a:schemeClr val="bg1"/>
                </a:solidFill>
              </a:rPr>
              <a:t>Comprobar que las funcionalidades funcionan correctamente.</a:t>
            </a:r>
          </a:p>
          <a:p>
            <a:pPr>
              <a:buFontTx/>
              <a:buChar char="-"/>
            </a:pPr>
            <a:r>
              <a:rPr lang="es-ES" sz="1800">
                <a:solidFill>
                  <a:schemeClr val="bg1"/>
                </a:solidFill>
              </a:rPr>
              <a:t>Evitar fallos que puedan afectar a los usuarios o al negocio.</a:t>
            </a:r>
          </a:p>
          <a:p>
            <a:pPr>
              <a:buFontTx/>
              <a:buChar char="-"/>
            </a:pPr>
            <a:r>
              <a:rPr lang="es-ES" sz="1800">
                <a:solidFill>
                  <a:schemeClr val="bg1"/>
                </a:solidFill>
              </a:rPr>
              <a:t>Mejorar la calidad y la confiabilidad del sistema.</a:t>
            </a:r>
          </a:p>
          <a:p>
            <a:pPr>
              <a:buFontTx/>
              <a:buChar char="-"/>
            </a:pPr>
            <a:r>
              <a:rPr lang="es-ES" sz="1800">
                <a:solidFill>
                  <a:schemeClr val="bg1"/>
                </a:solidFill>
              </a:rPr>
              <a:t>Tener más confianza al entregar o implementar una nueva versión.</a:t>
            </a:r>
          </a:p>
        </p:txBody>
      </p:sp>
      <p:grpSp>
        <p:nvGrpSpPr>
          <p:cNvPr id="155" name="Graphic 190">
            <a:extLst>
              <a:ext uri="{FF2B5EF4-FFF2-40B4-BE49-F238E27FC236}">
                <a16:creationId xmlns:a16="http://schemas.microsoft.com/office/drawing/2014/main" id="{55A100E1-E66E-4ED2-A56A-F7A819228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725954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AB9672F-EB60-4C69-965D-C7AD5217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7B9190C-E3A6-476A-9BBD-79CC3E7A0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9" name="Graphic 212">
            <a:extLst>
              <a:ext uri="{FF2B5EF4-FFF2-40B4-BE49-F238E27FC236}">
                <a16:creationId xmlns:a16="http://schemas.microsoft.com/office/drawing/2014/main" id="{CAB9AD4F-A248-4D49-8779-CE40E64C0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315927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61" name="Graphic 212">
            <a:extLst>
              <a:ext uri="{FF2B5EF4-FFF2-40B4-BE49-F238E27FC236}">
                <a16:creationId xmlns:a16="http://schemas.microsoft.com/office/drawing/2014/main" id="{3D4C1981-3D8B-446C-BFAE-E7EE5CF2D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315927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40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1017C2-8A49-BA7F-2FB7-5B48C13B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3" y="1641752"/>
            <a:ext cx="4391025" cy="742219"/>
          </a:xfrm>
        </p:spPr>
        <p:txBody>
          <a:bodyPr anchor="t">
            <a:normAutofit/>
          </a:bodyPr>
          <a:lstStyle/>
          <a:p>
            <a:r>
              <a:rPr lang="es-CO" sz="4000">
                <a:solidFill>
                  <a:schemeClr val="bg1"/>
                </a:solidFill>
              </a:rPr>
              <a:t>Pruebas unitarias</a:t>
            </a:r>
          </a:p>
        </p:txBody>
      </p:sp>
      <p:pic>
        <p:nvPicPr>
          <p:cNvPr id="5" name="Imagen 4" descr="Pruebas unitarias">
            <a:extLst>
              <a:ext uri="{FF2B5EF4-FFF2-40B4-BE49-F238E27FC236}">
                <a16:creationId xmlns:a16="http://schemas.microsoft.com/office/drawing/2014/main" id="{EC6FD31A-14B1-B762-FD41-B4CECCE3E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4" y="1746222"/>
            <a:ext cx="5260976" cy="394573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51C7E2-E739-0FB7-1815-7391A5BB9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3" y="2491937"/>
            <a:ext cx="4391025" cy="2454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700" dirty="0">
                <a:solidFill>
                  <a:schemeClr val="bg1">
                    <a:alpha val="80000"/>
                  </a:schemeClr>
                </a:solidFill>
              </a:rPr>
              <a:t>Las pruebas unitarias se enfocan en verificar una unidad de código, es decir, una parte del software que tiene una responsabilidad específica y un comportamiento definido.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>
                    <a:alpha val="80000"/>
                  </a:schemeClr>
                </a:solidFill>
              </a:rPr>
              <a:t>Siguiendo el Principio de Responsabilidad Única, una clase o módulo debería encargarse de una sola función, por lo que las pruebas se centran en los métodos que exponen ese comportamiento.</a:t>
            </a:r>
            <a:endParaRPr lang="es-CO" sz="17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56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23770-CE64-22D9-0FDE-9D3C1CAD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843015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/>
              <a:t>¿</a:t>
            </a:r>
            <a:r>
              <a:rPr lang="en-US" sz="3200" dirty="0" err="1"/>
              <a:t>Qué</a:t>
            </a:r>
            <a:r>
              <a:rPr lang="en-US" sz="3200" dirty="0"/>
              <a:t> </a:t>
            </a:r>
            <a:r>
              <a:rPr lang="en-US" sz="3200" dirty="0" err="1"/>
              <a:t>pasa</a:t>
            </a:r>
            <a:r>
              <a:rPr lang="en-US" sz="3200" dirty="0"/>
              <a:t> </a:t>
            </a:r>
            <a:r>
              <a:rPr lang="en-US" sz="3200" dirty="0" err="1"/>
              <a:t>si</a:t>
            </a:r>
            <a:r>
              <a:rPr lang="en-US" sz="3200" dirty="0"/>
              <a:t> no se </a:t>
            </a:r>
            <a:r>
              <a:rPr lang="en-US" sz="3200" dirty="0" err="1"/>
              <a:t>hacen</a:t>
            </a:r>
            <a:r>
              <a:rPr lang="en-US" sz="3200" dirty="0"/>
              <a:t> </a:t>
            </a:r>
            <a:r>
              <a:rPr lang="en-US" sz="3200" dirty="0" err="1"/>
              <a:t>pruebas</a:t>
            </a:r>
            <a:r>
              <a:rPr lang="en-US" sz="3200" dirty="0"/>
              <a:t> </a:t>
            </a:r>
            <a:r>
              <a:rPr lang="en-US" sz="3200" dirty="0" err="1"/>
              <a:t>correctamente</a:t>
            </a:r>
            <a:r>
              <a:rPr lang="en-US" sz="3200" dirty="0"/>
              <a:t>?</a:t>
            </a:r>
          </a:p>
        </p:txBody>
      </p:sp>
      <p:pic>
        <p:nvPicPr>
          <p:cNvPr id="5" name="Imagen 4" descr="Esto está bien">
            <a:extLst>
              <a:ext uri="{FF2B5EF4-FFF2-40B4-BE49-F238E27FC236}">
                <a16:creationId xmlns:a16="http://schemas.microsoft.com/office/drawing/2014/main" id="{C776B8D1-5CFB-775C-3480-8876B3F8C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18" y="164591"/>
            <a:ext cx="11370564" cy="552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73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AD5180-1B66-3D8F-9AE2-1EA8AD2E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s-CO">
                <a:solidFill>
                  <a:schemeClr val="bg1"/>
                </a:solidFill>
              </a:rPr>
              <a:t>Características de una buena prueba unitaria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F9DCFA-0294-EBEA-71FA-18EFA4265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>
                <a:solidFill>
                  <a:schemeClr val="bg1"/>
                </a:solidFill>
              </a:rPr>
              <a:t>Debe ser:</a:t>
            </a:r>
          </a:p>
          <a:p>
            <a:r>
              <a:rPr lang="es-ES" sz="2200">
                <a:solidFill>
                  <a:schemeClr val="bg1"/>
                </a:solidFill>
              </a:rPr>
              <a:t>Rápida: se ejecuta en pocos milisegundos.</a:t>
            </a:r>
          </a:p>
          <a:p>
            <a:r>
              <a:rPr lang="es-ES" sz="2200">
                <a:solidFill>
                  <a:schemeClr val="bg1"/>
                </a:solidFill>
              </a:rPr>
              <a:t>Independiente: no depende de otras pruebas, bases de datos, APIs o recursos externos.</a:t>
            </a:r>
          </a:p>
          <a:p>
            <a:r>
              <a:rPr lang="es-ES" sz="2200">
                <a:solidFill>
                  <a:schemeClr val="bg1"/>
                </a:solidFill>
              </a:rPr>
              <a:t>Repetible: siempre produce el mismo resultado.</a:t>
            </a:r>
          </a:p>
          <a:p>
            <a:r>
              <a:rPr lang="es-ES" sz="2200">
                <a:solidFill>
                  <a:schemeClr val="bg1"/>
                </a:solidFill>
              </a:rPr>
              <a:t>Legible: fácil de entender y mantener.</a:t>
            </a:r>
          </a:p>
          <a:p>
            <a:r>
              <a:rPr lang="es-ES" sz="2200">
                <a:solidFill>
                  <a:schemeClr val="bg1"/>
                </a:solidFill>
              </a:rPr>
              <a:t>Automática: puede ejecutarse sin intervención manual.</a:t>
            </a:r>
          </a:p>
        </p:txBody>
      </p:sp>
    </p:spTree>
    <p:extLst>
      <p:ext uri="{BB962C8B-B14F-4D97-AF65-F5344CB8AC3E}">
        <p14:creationId xmlns:p14="http://schemas.microsoft.com/office/powerpoint/2010/main" val="21664486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Panorámica</PresentationFormat>
  <Paragraphs>43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Taller de pruebas unitarias</vt:lpstr>
      <vt:lpstr>Introducción al Testing</vt:lpstr>
      <vt:lpstr>¿Qué es la calidad en el software?</vt:lpstr>
      <vt:lpstr>Características de la calidad del software</vt:lpstr>
      <vt:lpstr>¿Por qué debemos realizar pruebas?</vt:lpstr>
      <vt:lpstr>Pruebas unitarias</vt:lpstr>
      <vt:lpstr>¿Qué pasa si no se hacen pruebas correctamente?</vt:lpstr>
      <vt:lpstr>Características de una buena prueba unitaria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Armando Ibarra Pastrana</dc:creator>
  <cp:lastModifiedBy>Diego Armando Ibarra Pastrana</cp:lastModifiedBy>
  <cp:revision>1</cp:revision>
  <dcterms:created xsi:type="dcterms:W3CDTF">2026-08-28T13:24:23Z</dcterms:created>
  <dcterms:modified xsi:type="dcterms:W3CDTF">2026-08-28T14:11:35Z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2026-08-28T14:11:35Z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ff91ca6f-0d23-47da-8a40-eca7151d315b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